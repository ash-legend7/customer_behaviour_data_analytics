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Manrope"/>
      <p:regular r:id="rId201316"/>
    </p:embeddedFont>
    <p:embeddedFont>
      <p:font typeface="Manrop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Uncovering spending patterns,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7047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3,900 transactions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993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at a Glance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1017588"/>
            <a:ext cx="540103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1439168"/>
            <a:ext cx="5401036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129184" y="1017588"/>
            <a:ext cx="540103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9184" y="1439168"/>
            <a:ext cx="5401036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1475" y="1752898"/>
            <a:ext cx="540103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61475" y="2174478"/>
            <a:ext cx="5401036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1475" y="2363291"/>
            <a:ext cx="5401036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 Rating only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129184" y="1752898"/>
            <a:ext cx="540103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$59.76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9184" y="2174478"/>
            <a:ext cx="5401036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Purchase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06080"/>
            <a:ext cx="3644809" cy="36449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57499" y="4137720"/>
            <a:ext cx="6978972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57499" y="4347865"/>
            <a:ext cx="6978972" cy="406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Demographics: Age, Gender, Location, Subscription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Purchases: Item, Category, Amount, Season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Behavior: Discount, Promo Code, Frequency, Rating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0998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 in Python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125472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1516658"/>
            <a:ext cx="6296860" cy="1905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1637407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&amp; Explore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33360" y="1982688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Imported via pandas;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33360" y="249942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2761357"/>
            <a:ext cx="6296860" cy="1905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1" name="Text 8"/>
          <p:cNvSpPr/>
          <p:nvPr/>
        </p:nvSpPr>
        <p:spPr>
          <a:xfrm>
            <a:off x="5233360" y="2882106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&amp; Standardize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33360" y="3227388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Imputed missing Review Ratings by category median; renamed to snake_case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33360" y="374411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4006056"/>
            <a:ext cx="6296860" cy="1905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5" name="Text 12"/>
          <p:cNvSpPr/>
          <p:nvPr/>
        </p:nvSpPr>
        <p:spPr>
          <a:xfrm>
            <a:off x="5233360" y="4126805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33360" y="4472087"/>
            <a:ext cx="629686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; dropped redundant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33360" y="523686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33360" y="5498802"/>
            <a:ext cx="6296860" cy="1905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9" name="Text 16"/>
          <p:cNvSpPr/>
          <p:nvPr/>
        </p:nvSpPr>
        <p:spPr>
          <a:xfrm>
            <a:off x="5233360" y="5619552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Load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33360" y="5964833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Connected to PostgreSQL; loaded cleaned DataFrame for SQL analysis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Gender &amp; Subscription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 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2× more revenue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32776" y="2524621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55575A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332776" y="280987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vs. Non-Subscribers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332776" y="3317776"/>
            <a:ext cx="2507394" cy="1775123"/>
          </a:xfrm>
          <a:prstGeom prst="roundRect">
            <a:avLst>
              <a:gd name="adj" fmla="val 9583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28133" y="351313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(27%)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528133" y="3997424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1,053 customers · $62,645 total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029176" y="3317776"/>
            <a:ext cx="2507394" cy="1775123"/>
          </a:xfrm>
          <a:prstGeom prst="roundRect">
            <a:avLst>
              <a:gd name="adj" fmla="val 9583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24533" y="3513138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 (73%)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224533" y="4292699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2,847 customers · $170,436 total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2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Products &amp; Discount Patterns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by Review Rating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5299"/>
            <a:ext cx="5203794" cy="374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Discounted Products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76" y="2235299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1777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Segmentation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1886347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</a:t>
            </a:r>
            <a:endParaRPr lang="en-US" sz="4900" dirty="0"/>
          </a:p>
        </p:txBody>
      </p:sp>
      <p:sp>
        <p:nvSpPr>
          <p:cNvPr id="6" name="Text 3"/>
          <p:cNvSpPr/>
          <p:nvPr/>
        </p:nvSpPr>
        <p:spPr>
          <a:xfrm>
            <a:off x="5233360" y="2746276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499858" y="1886347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</a:t>
            </a:r>
            <a:endParaRPr lang="en-US" sz="4900" dirty="0"/>
          </a:p>
        </p:txBody>
      </p:sp>
      <p:sp>
        <p:nvSpPr>
          <p:cNvPr id="8" name="Text 5"/>
          <p:cNvSpPr/>
          <p:nvPr/>
        </p:nvSpPr>
        <p:spPr>
          <a:xfrm>
            <a:off x="8499858" y="2746276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866559" y="3514030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</a:t>
            </a:r>
            <a:endParaRPr lang="en-US" sz="4900" dirty="0"/>
          </a:p>
        </p:txBody>
      </p:sp>
      <p:sp>
        <p:nvSpPr>
          <p:cNvPr id="10" name="Text 7"/>
          <p:cNvSpPr/>
          <p:nvPr/>
        </p:nvSpPr>
        <p:spPr>
          <a:xfrm>
            <a:off x="6866559" y="4373959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5233360" y="4881860"/>
            <a:ext cx="6296860" cy="1058366"/>
          </a:xfrm>
          <a:prstGeom prst="roundRect">
            <a:avLst>
              <a:gd name="adj" fmla="val 16074"/>
            </a:avLst>
          </a:prstGeom>
          <a:solidFill>
            <a:srgbClr val="FFD7C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5149552"/>
            <a:ext cx="236234" cy="1890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47608" y="5118100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839 high-spending discount users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spent above average purchase amount despite using discounts.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256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Products by Category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094335"/>
            <a:ext cx="1117572" cy="690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021237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429919"/>
            <a:ext cx="25399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Jewelry · Sunglasses · Belt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3094335"/>
            <a:ext cx="1117572" cy="690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4021237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429919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Blouse · Pants · Shirt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3094335"/>
            <a:ext cx="1117572" cy="690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4021237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429919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Sandals · Shoes · Sneakers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3094335"/>
            <a:ext cx="1117572" cy="690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4021237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429919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Jacket · Coat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Young Adults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lead in revenue ($62,143)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is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7047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relatively balanced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across all age groups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Express shipping averages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$60.48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vs. Standard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$58.46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276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1801813"/>
            <a:ext cx="6296860" cy="685998"/>
          </a:xfrm>
          <a:prstGeom prst="roundRect">
            <a:avLst>
              <a:gd name="adj" fmla="val 24798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1997174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3.9K Customers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3360" y="2676823"/>
            <a:ext cx="6296860" cy="685998"/>
          </a:xfrm>
          <a:prstGeom prst="roundRect">
            <a:avLst>
              <a:gd name="adj" fmla="val 24798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8717" y="2872184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$59.76 Avg Purchase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5233360" y="3551833"/>
            <a:ext cx="6296860" cy="685998"/>
          </a:xfrm>
          <a:prstGeom prst="roundRect">
            <a:avLst>
              <a:gd name="adj" fmla="val 24798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28717" y="37471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3.75 Avg Rating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5233360" y="4426843"/>
            <a:ext cx="6296860" cy="685998"/>
          </a:xfrm>
          <a:prstGeom prst="roundRect">
            <a:avLst>
              <a:gd name="adj" fmla="val 24798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62220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 Subscribers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233360" y="532546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Filters: Subscription, Gender, Category, Shipping Type · Visuals: Revenue by Category, Sales by Age Group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03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Recommendations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0133" y="1486595"/>
            <a:ext cx="274631" cy="2746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6475" y="1480939"/>
            <a:ext cx="10273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56475" y="1873349"/>
            <a:ext cx="1027374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Promote exclusive subscriber benefits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133" y="2522141"/>
            <a:ext cx="274631" cy="274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6475" y="2516485"/>
            <a:ext cx="10273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Programs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256475" y="2908895"/>
            <a:ext cx="1027374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Reward repeat buyers → Loyal segment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133" y="3557687"/>
            <a:ext cx="274631" cy="2746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56475" y="3552031"/>
            <a:ext cx="10273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Discount Policy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256475" y="3944441"/>
            <a:ext cx="1027374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Balance sales lift with margin control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0133" y="4593233"/>
            <a:ext cx="274631" cy="2746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56475" y="4587577"/>
            <a:ext cx="10273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Positioning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256475" y="4979988"/>
            <a:ext cx="1027374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Highlight top-rated, best-selling items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0133" y="5628779"/>
            <a:ext cx="274631" cy="2746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56475" y="5623123"/>
            <a:ext cx="10273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Marketing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256475" y="6015534"/>
            <a:ext cx="1027374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 on high-revenue age groups &amp; express-shipping users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2026-09-26T20:02:44Z</dcterms:created>
  <dcterms:modified xsi:type="dcterms:W3CDTF">2026-09-26T20:02:44Z</dcterms:modified>
</cp:coreProperties>
</file>